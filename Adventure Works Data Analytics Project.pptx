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P1382 - ADVENTURE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1907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GROUP 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92928" y="2212848"/>
            <a:ext cx="1005840" cy="27432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06624"/>
            <a:ext cx="100584" cy="10058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6060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MOHAMMAD ZAHEER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145536"/>
            <a:ext cx="100584" cy="10058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04495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S 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584448"/>
            <a:ext cx="100584" cy="10058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4838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BUDDALA SRI LALITHA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100584" cy="10058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227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SANJAY RAJPUT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462272"/>
            <a:ext cx="100584" cy="10058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3616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SIRIVELLA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901184"/>
            <a:ext cx="100584" cy="10058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800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P 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18020" y="2552735"/>
            <a:ext cx="3246120" cy="2740083"/>
          </a:xfrm>
          <a:prstGeom prst="roundRect">
            <a:avLst>
              <a:gd name="adj" fmla="val 4005"/>
            </a:avLst>
          </a:prstGeom>
          <a:solidFill>
            <a:srgbClr val="2B407A"/>
          </a:solidFill>
          <a:ln w="15875">
            <a:solidFill>
              <a:srgbClr val="E8B93F"/>
            </a:solidFill>
            <a:prstDash val="solid"/>
          </a:ln>
        </p:spPr>
      </p:sp>
      <p:pic>
        <p:nvPicPr>
          <p:cNvPr id="19" name="Image 0" descr="/tmp/claude-0/-home-claude/25963ef1-86cc-5bbb-b452-6bc6cf693e08/scratchpad/odp_wor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2827055"/>
            <a:ext cx="2606040" cy="2191443"/>
          </a:xfrm>
          <a:prstGeom prst="rect">
            <a:avLst/>
          </a:prstGeom>
        </p:spPr>
      </p:pic>
      <p:pic>
        <p:nvPicPr>
          <p:cNvPr id="20" name="Image 1" descr="/tmp/claude-0/-home-claude/25963ef1-86cc-5bbb-b452-6bc6cf693e08/scratchpad/odp_work/assets/icon_exc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244" y="580644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75308" y="6245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pic>
        <p:nvPicPr>
          <p:cNvPr id="22" name="Image 2" descr="/tmp/claude-0/-home-claude/25963ef1-86cc-5bbb-b452-6bc6cf693e08/scratchpad/odp_work/assets/icon_sq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964" y="580644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107028" y="6245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pic>
        <p:nvPicPr>
          <p:cNvPr id="24" name="Image 3" descr="/tmp/claude-0/-home-claude/25963ef1-86cc-5bbb-b452-6bc6cf693e08/scratchpad/odp_work/assets/icon_tablea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684" y="580644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38748" y="6245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pic>
        <p:nvPicPr>
          <p:cNvPr id="26" name="Image 4" descr="/tmp/claude-0/-home-claude/25963ef1-86cc-5bbb-b452-6bc6cf693e08/scratchpad/odp_work/assets/icon_powerb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404" y="580644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70468" y="6245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746504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6916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ADVENTURE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587752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53288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WORKFLOW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3741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ABOUT DATASETS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270248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21538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 MODULE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505663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MODULE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1746504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16916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MODULE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2587752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53288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MODULE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3429000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33741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92240" y="4270248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421538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92240" y="5111496"/>
            <a:ext cx="457200" cy="457200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505663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— OVERVIEW &amp; BUSINESS GOALS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pic>
        <p:nvPicPr>
          <p:cNvPr id="4" name="Image 0" descr="/tmp/claude-0/-home-claude/25963ef1-86cc-5bbb-b452-6bc6cf693e08/scratchpad/odp_work/assets/icon_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5331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34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Bicycle Manufacturing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pic>
        <p:nvPicPr>
          <p:cNvPr id="7" name="Image 1" descr="/tmp/claude-0/-home-claude/25963ef1-86cc-5bbb-b452-6bc6cf693e08/scratchpad/odp_work/assets/icon_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2199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103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North America, Europe, Asia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2971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pic>
        <p:nvPicPr>
          <p:cNvPr id="10" name="Image 2" descr="/tmp/claude-0/-home-claude/25963ef1-86cc-5bbb-b452-6bc6cf693e08/scratchpad/odp_work/assets/icon_h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9067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97180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 Bothell, Washington, USA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3840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pic>
        <p:nvPicPr>
          <p:cNvPr id="13" name="Image 3" descr="/tmp/claude-0/-home-claude/25963ef1-86cc-5bbb-b452-6bc6cf693e08/scratchpad/odp_work/assets/icon_pl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59352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8404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Plant: Mexico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623560" y="123444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989320" y="1463040"/>
            <a:ext cx="5303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Cycles is a multinational bicycle manufacturing company that produces and sells metal and composite bicycles across North America, Europe &amp; Asia.</a:t>
            </a:r>
            <a:endParaRPr lang="en-US" sz="1350" dirty="0"/>
          </a:p>
          <a:p>
            <a:pPr algn="l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headquarters is in Bothell, Washington, while the manufacturing plant in Mexico produces critical bicycle components.</a:t>
            </a:r>
            <a:endParaRPr lang="en-US" sz="1350" dirty="0"/>
          </a:p>
          <a:p>
            <a:pPr algn="l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aims to expand its market share, improve customer targeting, reduce production cost, and support better decision-making through data analysis.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4892040"/>
            <a:ext cx="2240280" cy="868680"/>
          </a:xfrm>
          <a:prstGeom prst="chevron">
            <a:avLst/>
          </a:prstGeom>
          <a:solidFill>
            <a:srgbClr val="1B2A56"/>
          </a:solidFill>
          <a:ln/>
        </p:spPr>
      </p:sp>
      <p:sp>
        <p:nvSpPr>
          <p:cNvPr id="18" name="Text 12"/>
          <p:cNvSpPr/>
          <p:nvPr/>
        </p:nvSpPr>
        <p:spPr>
          <a:xfrm>
            <a:off x="548640" y="4892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063240" y="489204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E8B93F"/>
          </a:solidFill>
          <a:ln/>
        </p:spPr>
      </p:sp>
      <p:sp>
        <p:nvSpPr>
          <p:cNvPr id="20" name="Text 14"/>
          <p:cNvSpPr/>
          <p:nvPr/>
        </p:nvSpPr>
        <p:spPr>
          <a:xfrm>
            <a:off x="3063240" y="4892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 share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360920" y="489204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E8B93F"/>
          </a:solidFill>
          <a:ln/>
        </p:spPr>
      </p:sp>
      <p:sp>
        <p:nvSpPr>
          <p:cNvPr id="22" name="Text 16"/>
          <p:cNvSpPr/>
          <p:nvPr/>
        </p:nvSpPr>
        <p:spPr>
          <a:xfrm>
            <a:off x="7360920" y="4892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online sales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063240" y="540410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E8B93F"/>
          </a:solidFill>
          <a:ln/>
        </p:spPr>
      </p:sp>
      <p:sp>
        <p:nvSpPr>
          <p:cNvPr id="24" name="Text 18"/>
          <p:cNvSpPr/>
          <p:nvPr/>
        </p:nvSpPr>
        <p:spPr>
          <a:xfrm>
            <a:off x="3063240" y="54041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production cost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360920" y="540410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E8B93F"/>
          </a:solidFill>
          <a:ln/>
        </p:spPr>
      </p:sp>
      <p:sp>
        <p:nvSpPr>
          <p:cNvPr id="26" name="Text 20"/>
          <p:cNvSpPr/>
          <p:nvPr/>
        </p:nvSpPr>
        <p:spPr>
          <a:xfrm>
            <a:off x="7360920" y="54041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targeting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B9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B9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41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Profit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B9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099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Production Cost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B9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7581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Regional Sales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B9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416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 Performance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B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1874520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141F4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187452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65976" y="2624328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1F2F5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48856" y="262432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 </a:t>
            </a:r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85432" y="3374136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2B407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68312" y="337413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</a:t>
            </a:r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Business Queries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04888" y="4123944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3E549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87768" y="412394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</a:t>
            </a:r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24344" y="4873752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E8B93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07224" y="487375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</a:t>
            </a:r>
            <a:pPr algn="l" indent="0" marL="0">
              <a:buNone/>
            </a:pPr>
            <a:r>
              <a:rPr lang="en-US" sz="1050" i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DAX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Adventure Works dataset contains transactional sales data along with supporting information about products, dates &amp; sales territories. 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follows a Star Schema, consisting of one fact table and multiple dimension tables.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5029200" cy="3566160"/>
        </p:xfrm>
        <a:graphic>
          <a:graphicData uri="http://schemas.openxmlformats.org/drawingml/2006/table">
            <a:tbl>
              <a:tblPr/>
              <a:tblGrid>
                <a:gridCol w="1965960"/>
                <a:gridCol w="3063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transaction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Master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and region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53912" y="2324273"/>
            <a:ext cx="6025896" cy="3901094"/>
          </a:xfrm>
          <a:prstGeom prst="roundRect">
            <a:avLst>
              <a:gd name="adj" fmla="val 140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6" name="Image 0" descr="/tmp/claude-0/-home-claude/25963ef1-86cc-5bbb-b452-6bc6cf693e08/scratchpad/odp_work/asset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434001"/>
            <a:ext cx="5806440" cy="3681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727168" y="850392"/>
            <a:ext cx="8734616" cy="3282696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4" name="Image 0" descr="/tmp/claude-0/-home-claude/25963ef1-86cc-5bbb-b452-6bc6cf693e08/scratchpad/odp_work/assets/dash_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896" y="960120"/>
            <a:ext cx="851516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79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6085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36592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23260" y="4736592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157216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223260" y="5157216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577840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223260" y="5577840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943600" y="42793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943600" y="46085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4718304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 clean and validated dataset for analysis.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business calculations using Excel formulas.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interactive pivot reports and charts.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Excel dashboard to monitor Sales, Profit, Cost, and Orders.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911878" y="850392"/>
            <a:ext cx="3305965" cy="3739896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4" name="Image 0" descr="/tmp/claude-0/-home-claude/25963ef1-86cc-5bbb-b452-6bc6cf693e08/scratchpad/odp_work/assets/sq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606" y="960120"/>
            <a:ext cx="3086509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18427" y="850392"/>
            <a:ext cx="4274983" cy="18516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6" name="Image 1" descr="/tmp/claude-0/-home-claude/25963ef1-86cc-5bbb-b452-6bc6cf693e08/scratchpad/odp_work/assets/sql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155" y="960120"/>
            <a:ext cx="4055527" cy="16322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18427" y="2738628"/>
            <a:ext cx="4958647" cy="18516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8" name="Image 2" descr="/tmp/claude-0/-home-claude/25963ef1-86cc-5bbb-b452-6bc6cf693e08/scratchpad/odp_work/assets/sql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155" y="2848356"/>
            <a:ext cx="4739191" cy="16322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47365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548640" y="50657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1" name="Text 6"/>
          <p:cNvSpPr/>
          <p:nvPr/>
        </p:nvSpPr>
        <p:spPr>
          <a:xfrm>
            <a:off x="548640" y="5193792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223260" y="5193792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48640" y="5577840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223260" y="5577840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5961888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223260" y="5961888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8640" y="6345936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223260" y="6345936"/>
            <a:ext cx="2446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943600" y="47365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5943600" y="50657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21" name="Text 16"/>
          <p:cNvSpPr/>
          <p:nvPr/>
        </p:nvSpPr>
        <p:spPr>
          <a:xfrm>
            <a:off x="5943600" y="5175504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enabled efficient analysis of sales data and answered important business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067207" y="850392"/>
            <a:ext cx="6054537" cy="3282696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4" name="Image 0" descr="/tmp/claude-0/-home-claude/25963ef1-86cc-5bbb-b452-6bc6cf693e08/scratchpad/odp_work/assets/dash_table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935" y="960120"/>
            <a:ext cx="5835081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79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6085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36592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Adventure Works Dataset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23260" y="4736592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Dashboard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157216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Filters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223260" y="5157216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KPI Cards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577840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Sales Trends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943600" y="42793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943600" y="46085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4718304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dashboards using Tableau.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Sales, Profit, Cost, Customer, Product, and Regional performance.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meaningful business insights through interactive reporting.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decision-making using data visualization techniques.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49861" y="850392"/>
            <a:ext cx="5689231" cy="3282696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8000"/>
              </a:srgbClr>
            </a:outerShdw>
          </a:effectLst>
        </p:spPr>
      </p:sp>
      <p:pic>
        <p:nvPicPr>
          <p:cNvPr id="4" name="Image 0" descr="/tmp/claude-0/-home-claude/25963ef1-86cc-5bbb-b452-6bc6cf693e08/scratchpad/odp_work/assets/dash_power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589" y="960120"/>
            <a:ext cx="5469775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79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6085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36592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23260" y="4736592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Star Schema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157216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Relationships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223260" y="5157216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Columns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577840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223260" y="5577840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Dashboard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943600" y="42793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943600" y="4608576"/>
            <a:ext cx="548640" cy="32004"/>
          </a:xfrm>
          <a:prstGeom prst="rect">
            <a:avLst/>
          </a:prstGeom>
          <a:solidFill>
            <a:srgbClr val="E8B93F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4718304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Business Intelligence dashboard.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Star Schema data model with DAX calculations.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KPI cards, charts, maps, and slicers.</a:t>
            </a:r>
            <a:endParaRPr lang="en-US" sz="120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dynamic insights into Sales, Profit, Products, Customers, and Regions.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— KEY PERFORMANCE INDICATORS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1B2A56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2646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B93F"/>
          </a:solidFill>
          <a:ln/>
        </p:spPr>
      </p:sp>
      <p:pic>
        <p:nvPicPr>
          <p:cNvPr id="5" name="Image 0" descr="/tmp/claude-0/-home-claude/25963ef1-86cc-5bbb-b452-6bc6cf693e08/scratchpad/odp_work/assets/kpi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453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17320" y="16184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₹29.36M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295144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1B2A56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48716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B93F"/>
          </a:solidFill>
          <a:ln/>
        </p:spPr>
      </p:sp>
      <p:pic>
        <p:nvPicPr>
          <p:cNvPr id="10" name="Image 1" descr="/tmp/claude-0/-home-claude/25963ef1-86cc-5bbb-b452-6bc6cf693e08/scratchpad/odp_work/assets/kpi_pro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06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4140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417320" y="26791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₹12.08M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1B2A56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5478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B93F"/>
          </a:solidFill>
          <a:ln/>
        </p:spPr>
      </p:sp>
      <p:pic>
        <p:nvPicPr>
          <p:cNvPr id="15" name="Image 2" descr="/tmp/claude-0/-home-claude/25963ef1-86cc-5bbb-b452-6bc6cf693e08/scratchpad/odp_work/assets/kpi_c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6674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417320" y="37398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₹17.28M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548640" y="4416552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1B2A56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460857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B93F"/>
          </a:solidFill>
          <a:ln/>
        </p:spPr>
      </p:sp>
      <p:pic>
        <p:nvPicPr>
          <p:cNvPr id="20" name="Image 3" descr="/tmp/claude-0/-home-claude/25963ef1-86cc-5bbb-b452-6bc6cf693e08/scratchpad/odp_work/assets/kpi_marg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7274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535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417320" y="4800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41.15%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548640" y="5477256"/>
            <a:ext cx="4206240" cy="896112"/>
          </a:xfrm>
          <a:prstGeom prst="roundRect">
            <a:avLst>
              <a:gd name="adj" fmla="val 9184"/>
            </a:avLst>
          </a:prstGeom>
          <a:solidFill>
            <a:srgbClr val="1B2A56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31520" y="566928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8B93F"/>
          </a:solidFill>
          <a:ln/>
        </p:spPr>
      </p:sp>
      <p:pic>
        <p:nvPicPr>
          <p:cNvPr id="25" name="Image 4" descr="/tmp/claude-0/-home-claude/25963ef1-86cc-5bbb-b452-6bc6cf693e08/scratchpad/odp_work/assets/kpi_or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78815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596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417320" y="58613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5074920" y="1499616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29" name="Text 22"/>
          <p:cNvSpPr/>
          <p:nvPr/>
        </p:nvSpPr>
        <p:spPr>
          <a:xfrm>
            <a:off x="5367528" y="1371600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reached ₹29.36 Million.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5074920" y="2157984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31" name="Text 24"/>
          <p:cNvSpPr/>
          <p:nvPr/>
        </p:nvSpPr>
        <p:spPr>
          <a:xfrm>
            <a:off x="5367528" y="2029968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41.15%.</a:t>
            </a:r>
            <a:endParaRPr lang="en-US" sz="1450" dirty="0"/>
          </a:p>
        </p:txBody>
      </p:sp>
      <p:sp>
        <p:nvSpPr>
          <p:cNvPr id="32" name="Shape 25"/>
          <p:cNvSpPr/>
          <p:nvPr/>
        </p:nvSpPr>
        <p:spPr>
          <a:xfrm>
            <a:off x="5074920" y="2816352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33" name="Text 26"/>
          <p:cNvSpPr/>
          <p:nvPr/>
        </p:nvSpPr>
        <p:spPr>
          <a:xfrm>
            <a:off x="5367528" y="2688336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60,000 Orders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processed.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5074920" y="3474720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35" name="Text 28"/>
          <p:cNvSpPr/>
          <p:nvPr/>
        </p:nvSpPr>
        <p:spPr>
          <a:xfrm>
            <a:off x="5367528" y="3346704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generated the highest sales.</a:t>
            </a:r>
            <a:endParaRPr lang="en-US" sz="1450" dirty="0"/>
          </a:p>
        </p:txBody>
      </p:sp>
      <p:sp>
        <p:nvSpPr>
          <p:cNvPr id="36" name="Shape 29"/>
          <p:cNvSpPr/>
          <p:nvPr/>
        </p:nvSpPr>
        <p:spPr>
          <a:xfrm>
            <a:off x="5074920" y="4133088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37" name="Text 30"/>
          <p:cNvSpPr/>
          <p:nvPr/>
        </p:nvSpPr>
        <p:spPr>
          <a:xfrm>
            <a:off x="5367528" y="4005072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recorded the highest sales.</a:t>
            </a:r>
            <a:endParaRPr lang="en-US" sz="1450" dirty="0"/>
          </a:p>
        </p:txBody>
      </p:sp>
      <p:sp>
        <p:nvSpPr>
          <p:cNvPr id="38" name="Shape 31"/>
          <p:cNvSpPr/>
          <p:nvPr/>
        </p:nvSpPr>
        <p:spPr>
          <a:xfrm>
            <a:off x="5074920" y="4791456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39" name="Text 32"/>
          <p:cNvSpPr/>
          <p:nvPr/>
        </p:nvSpPr>
        <p:spPr>
          <a:xfrm>
            <a:off x="5367528" y="4663440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Bikes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generated maximum revenue.</a:t>
            </a:r>
            <a:endParaRPr lang="en-US" sz="1450" dirty="0"/>
          </a:p>
        </p:txBody>
      </p:sp>
      <p:sp>
        <p:nvSpPr>
          <p:cNvPr id="40" name="Shape 33"/>
          <p:cNvSpPr/>
          <p:nvPr/>
        </p:nvSpPr>
        <p:spPr>
          <a:xfrm>
            <a:off x="5074920" y="5449824"/>
            <a:ext cx="100584" cy="100584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41" name="Text 34"/>
          <p:cNvSpPr/>
          <p:nvPr/>
        </p:nvSpPr>
        <p:spPr>
          <a:xfrm>
            <a:off x="5367528" y="5321808"/>
            <a:ext cx="6291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remained lower than Sales, resulting in healthy profitability.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1B2A5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292608"/>
          </a:xfrm>
          <a:prstGeom prst="rect">
            <a:avLst/>
          </a:prstGeom>
          <a:solidFill>
            <a:srgbClr val="1B2A5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157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21031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multiple datasets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27614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product master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34747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341985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table relationships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1330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47914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61872" y="47365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results across tools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54498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413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61872" y="53949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interactivity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123444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EEF1FA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23444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C99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1600200"/>
            <a:ext cx="5349240" cy="29260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23444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LEARNED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0" y="2157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76872" y="21031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Unioned sales tables into one dataset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0" y="281635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76872" y="27614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product-related tables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83680" y="34747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76872" y="341985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Star Schema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83680" y="41330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76872" y="407822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Excel formulas, SQL queries, and DAX measures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583680" y="47914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76872" y="47365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Cross-verified results in Excel, Tableau, and Power BI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583680" y="54498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8B93F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5413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76872" y="53949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slicers, filters, and KPI cards for interaction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746504"/>
            <a:ext cx="118872" cy="118872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600200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an end-to-end Business Intelligence project</a:t>
            </a:r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the Adventure Works dataset.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05840" y="2459736"/>
            <a:ext cx="118872" cy="118872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2313432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transformed, and validated data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Microsoft Excel.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05840" y="3172968"/>
            <a:ext cx="118872" cy="118872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3026664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and analyzed business data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SQL.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005840" y="3886200"/>
            <a:ext cx="118872" cy="118872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53312" y="3739896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dashboards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Tableau and Power BI</a:t>
            </a:r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business insights.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05840" y="4599432"/>
            <a:ext cx="118872" cy="118872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4453128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trends in 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Production Cost, Customers, Products, and Regions.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05840" y="5312664"/>
            <a:ext cx="118872" cy="118872"/>
          </a:xfrm>
          <a:prstGeom prst="ellipse">
            <a:avLst/>
          </a:prstGeom>
          <a:solidFill>
            <a:srgbClr val="E8B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5166360"/>
            <a:ext cx="9802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dashboards that support faster, more informed business decision-making.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5176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547208" y="3703320"/>
            <a:ext cx="109728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86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P1382 - ADVENTURE WORKS DATA ANALYTICS PROJECT  |  GROUP 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2026-09-14T18:23:21Z</dcterms:created>
  <dcterms:modified xsi:type="dcterms:W3CDTF">2026-09-14T18:23:21Z</dcterms:modified>
</cp:coreProperties>
</file>